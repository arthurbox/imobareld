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cover_1786658977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8C8C"/>
                </a:solidFill>
              </a:rPr>
              <a:t>  ✗  Marché immobilier opaque &amp; fragmenté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8C8C"/>
                </a:solidFill>
              </a:rPr>
              <a:t>  ✗  Annonces par bouche-à-oreille uniquement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140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8C8C"/>
                </a:solidFill>
              </a:rPr>
              <a:t>  ✗  Pas de visibilité sur les prix du marché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7238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8C8C"/>
                </a:solidFill>
              </a:rPr>
              <a:t>  ✗  Arnaques fréquentes sans vérification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3075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8C8C"/>
                </a:solidFill>
              </a:rPr>
              <a:t>  ✗  Processus de recherche très chronophage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9904" y="274320"/>
            <a:ext cx="36576" cy="6309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Notre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914400"/>
            <a:ext cx="1097280" cy="45720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B981"/>
                </a:solidFill>
              </a:rPr>
              <a:t>  ✓  Marketplace centralisée &amp; sécurisée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B981"/>
                </a:solidFill>
              </a:rPr>
              <a:t>  ✓  Annonces vérifiées avec photos &amp; vidéos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140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B981"/>
                </a:solidFill>
              </a:rPr>
              <a:t>  ✓  Géolocalisation précise (Google Maps)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7238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B981"/>
                </a:solidFill>
              </a:rPr>
              <a:t>  ✓  Chat direct propriétaire ↔ locataire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307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B981"/>
                </a:solidFill>
              </a:rPr>
              <a:t>  ✓  Système de notation &amp; avis transparents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4DA2"/>
                </a:solidFill>
              </a:rPr>
              <a:t>Un Marché à Fort Potentiel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A4DA2"/>
                </a:solidFill>
              </a:rPr>
              <a:t>22 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</a:rPr>
              <a:t>Habitants au
Burkina Faso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468880" cy="73152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8C00"/>
                </a:solidFill>
              </a:rPr>
              <a:t>2 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</a:rPr>
              <a:t>Habitants à
Ouagadougou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463040"/>
            <a:ext cx="246888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A4DA2"/>
                </a:solidFill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</a:rPr>
              <a:t>Population
urbaine jeune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468880" cy="73152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8C00"/>
                </a:solidFill>
              </a:rPr>
              <a:t>&lt; 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17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</a:rPr>
              <a:t>Taux de
numérisation
immobilière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246888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B5563"/>
                </a:solidFill>
              </a:rPr>
              <a:t>Opportunité de disruption digitale dans l'immobilier ouest-africain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4DA2"/>
                </a:solidFill>
              </a:rPr>
              <a:t>Fonctionnalités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</a:rPr>
              <a:t>👤 Pour les Locataires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Recherche multicritères avancée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Filtres : catégorie, quartier, prix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Galerie photos &amp; vidéos HD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Avis et notes des propriétés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Favoris &amp; alertes nouvelles annonces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Chat direct avec le propriétaire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Géolocalisation et carte interactive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Mode hors-ligne (cache local)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</a:rPr>
              <a:t>🏠 Pour les Propriétaires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Publication d'annonces (photos + vidéos)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Tableau de bord de 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88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Suivi des vues et interactions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Messagerie intégrée avec les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Boost d'annonces payant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Badge Propriétaire Vérifié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66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Gestion d'abonnement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</a:rPr>
              <a:t>  ✔  Historique des 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4864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Écran d'Accueil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Vue principale avec :
• Catégories : Appartements, Maisons,
  Terrains, Magasins, Boutiques
• Annonces boostées en tête de liste
• Barre de recherche intelligente
• Bannières promotionnelles
• Nouvelles propriétés en temps réel</a:t>
            </a:r>
          </a:p>
        </p:txBody>
      </p:sp>
      <p:pic>
        <p:nvPicPr>
          <p:cNvPr id="6" name="Picture 5" descr="slide_home_screen_1786658875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539496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4864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Détail d'une Annonce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Page complète incluant :
• Galerie photos + vidéos HD
• Prix, quartier, type de transaction
• Équipements (Wifi, Clim, Piscine…)
• Note moyenne &amp; commentaires
• Profil propriétaire + badge vérifié
• Bouton « Contacter » → Chat direct
• Partage de l'annonce</a:t>
            </a:r>
          </a:p>
        </p:txBody>
      </p:sp>
      <p:pic>
        <p:nvPicPr>
          <p:cNvPr id="6" name="Picture 5" descr="slide_property_detail_17866588986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539496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4864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Dashboard Propriétaire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Espace dédié aux bailleurs :
• Statistiques : vues, messages, annonces
• Gestion de toutes ses propriétés
• Publication / modification d'annonces
• Demande de vérification d'identité
• Souscription à un abonnement
• Activation d'un Boost payant
• Historique des transactions</a:t>
            </a:r>
          </a:p>
        </p:txBody>
      </p:sp>
      <p:pic>
        <p:nvPicPr>
          <p:cNvPr id="6" name="Picture 5" descr="slide_owner_dashboard_178665891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539496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4864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Messagerie Intégrée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Chat en temps réel :
• Conversation liée à une propriété
• Affichage de la référence de l'annonce
• Temps réel via Supabase Realtime
• Notifications push (FCM)
• Liste de toutes les conversations
• Interface style messagerie moderne</a:t>
            </a:r>
          </a:p>
        </p:txBody>
      </p:sp>
      <p:pic>
        <p:nvPicPr>
          <p:cNvPr id="6" name="Picture 5" descr="slide_chat_screen_1786658939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539496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Modèle Économique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291840" cy="4937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291840" cy="9144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B5563"/>
                </a:solidFill>
              </a:rPr>
              <a:t>Essai Gratuit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0 FCFA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B5563"/>
                </a:solidFill>
              </a:rPr>
              <a:t>6 premiers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Publication d'annonces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Accès messagerie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Profil basique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00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Support 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7" y="1188720"/>
            <a:ext cx="3291840" cy="4937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7" y="1188720"/>
            <a:ext cx="3291840" cy="91440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7" y="1280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4DA2"/>
                </a:solidFill>
              </a:rPr>
              <a:t>Abonnement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7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5 000 FCFA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7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B5563"/>
                </a:solidFill>
              </a:rPr>
              <a:t>/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7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Tout du plan Essai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3794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Annonces illimitées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7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Badge vérifié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7" y="4800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Statistiques détaillées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4" y="1188720"/>
            <a:ext cx="3291840" cy="4937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4" y="1188720"/>
            <a:ext cx="329184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4" y="1280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8C00"/>
                </a:solidFill>
              </a:rPr>
              <a:t>Boost Annonce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4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2 000 FCFA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4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B5563"/>
                </a:solidFill>
              </a:rPr>
              <a:t>/ semaine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4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Annonce en tête des résultats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4" y="3794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Badge Boostée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4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Visibilité ×5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4" y="4800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Durée flexible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A4DA2"/>
                </a:solidFill>
              </a:rPr>
              <a:t>Architecture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architecture_1786658955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A2"/>
                </a:solidFill>
              </a:rPr>
              <a:t>⚡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4447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Flutter (Dart) — Multi-plateformes
Android, iOS,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A2"/>
                </a:solidFill>
              </a:rPr>
              <a:t>🗄️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591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Supabase — PostgreSQL, Auth,
Realtime,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A2"/>
                </a:solidFill>
              </a:rPr>
              <a:t>🔔 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735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Firebase FCM + flutter_local
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A2"/>
                </a:solidFill>
              </a:rPr>
              <a:t>📦 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187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SQLite (sqflite) — Mode offline
SyncService 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A2"/>
                </a:solidFill>
              </a:rPr>
              <a:t>🗺️ Cartes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1023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Google Maps Flutter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A2"/>
                </a:solidFill>
              </a:rPr>
              <a:t>🔒 Sécurité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60167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JWT, Row Level Security
Firebase Crashlytics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4DA2"/>
                </a:solidFill>
              </a:rPr>
              <a:t>Sécurité &amp; Confiance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  🛡  Authentification sécurisée (email/mot de passe + Google Sign-In)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842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  🛡  Vérification d'identité des propriétaires (documents officiels)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4261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  🛡  Badge « Propriétaire Vérifié » visible sur chaque annonce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0098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  🛡  Système de notation et commentaires des locataires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59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  🛡  Rapport d'abus directement depuis l'annonce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  🛡  Firebase Crashlytics pour la stabilité de l'application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760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</a:rPr>
              <a:t>  🛡  Row Level Security (RLS) Supabase — accès données protégé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Phase 1 — Actuelle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Application Android &amp; iOS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87751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Annonces Location &amp; Vente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00983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Messagerie temps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14215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Système de Boost &amp; Abonnements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6576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6576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Phase 2 — 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745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Paiement intégré (Orange Money, Moov)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87751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Visite virtuelle 360°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00983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Contrats de bail numériques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014215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Application tablette optimisée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43000"/>
            <a:ext cx="3657600" cy="5029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143000"/>
            <a:ext cx="3657600" cy="73152"/>
          </a:xfrm>
          <a:prstGeom prst="rect">
            <a:avLst/>
          </a:prstGeom>
          <a:solidFill>
            <a:srgbClr val="0A4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A2"/>
                </a:solidFill>
              </a:rPr>
              <a:t>Phase 3 —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8745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Expansion : Côte d'Ivoire, Sénégal, Mali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87751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IA : recommandations personnalisées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00983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Estimation automatique des prix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14215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➤  Partenariat agences immobilières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</a:rPr>
              <a:t>IMOBARELD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IMOBARELD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8C00"/>
                </a:solidFill>
              </a:rPr>
              <a:t>La référence immobilière du Burkina Faso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063240"/>
            <a:ext cx="3931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📱 Disponible sur Android &amp; 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4164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🌐 Version Web : imobareld.bf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700016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✉️ Contact : afrmd05@gmail.com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7607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4B5563"/>
                </a:solidFill>
              </a:rPr>
              <a:t>Merci pour votre attention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